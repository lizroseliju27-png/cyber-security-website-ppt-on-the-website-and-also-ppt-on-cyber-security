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3846f614-d86f-ce4b-1912-4c4c112f9f69}">
          <p14:sldIdLst>
            <p14:sldId id="256"/>
          </p14:sldIdLst>
        </p14:section>
        <p14:section name="Problem" id="{76356bbe-df0a-a839-9913-abcef8442758}">
          <p14:sldIdLst>
            <p14:sldId id="257"/>
          </p14:sldIdLst>
        </p14:section>
        <p14:section name="Solution" id="{83c5a74a-bb97-a376-c047-bc17d91eb70c}">
          <p14:sldIdLst>
            <p14:sldId id="258"/>
          </p14:sldIdLst>
        </p14:section>
        <p14:section name="Prototype" id="{a6f937bf-0f5c-e06c-9efe-c72632665105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cyber threats are growing with every new connected device, and this presentation covers the problem, our solution (CyberShield) and the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rapid growth of smartphones, cloud platforms, online services and connected devices has increased the risk of cyberattacks. Hospital case: an employee entered credentials on a fake password-reset site; attackers deployed ransomware, so systems and patient records became inaccessible. Impact: delayed treatment and appointments, inaccessible records, sensitive data at risk, financial and operational losses, damaged trust and reputation. Need: combine technical security with user awareness.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CyberShield is a user-friendly cybersecurity solution that helps people identify, understand and respond to common cyber threats. Key features: Phishing Checker, Password Strength Checker, Threat Alerts, Cybersecurity Learning Hub, Report a Threat. Flow: the user submits a message or URL, the checks run, a risk level is shown (safe, suspicious or high risk), and action tips protect the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Prototype modules: Security Dashboard (status, alerts, recommendations), Phishing Checker (analyzes a message or URL and shows a risk level), Password Checker (strength and suggestions), Threat Alerts (phishing, malware, ransomware, identity theft), Learning Hub (safe browsing, MFA, password security, social engineering), Report Threat (suspicious messages, emails, links). Example: the urgent bank message is HIGH RISK because of urgent language, a suspicious link and a request for credentials. Recommendation: don't click, don't share personal information, report the threat.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1206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F2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822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CYBERSECURITY: PROTECT TODAY, SECURE TOMORROW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Understanding Cyber Threats, Risks &amp; Digital Protection</a:t>
            </a:r>
            <a:endParaRPr lang="en-US" sz="1600" dirty="0"/>
          </a:p>
        </p:txBody>
      </p:sp>
      <p:sp>
        <p:nvSpPr>
          <p:cNvPr id="4" name="Presented label"/>
          <p:cNvSpPr txBox="1"/>
          <p:nvPr/>
        </p:nvSpPr>
        <p:spPr>
          <a:xfrm>
            <a:off x="54864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PRESENTED BY</a:t>
            </a:r>
            <a:endParaRPr lang="en-US" sz="1200" dirty="0"/>
          </a:p>
        </p:txBody>
      </p:sp>
      <p:sp>
        <p:nvSpPr>
          <p:cNvPr id="5" name="Presenter name"/>
          <p:cNvSpPr txBox="1"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Liz Rose Liju</a:t>
            </a:r>
            <a:endParaRPr lang="en-US" sz="2200" dirty="0"/>
          </a:p>
        </p:txBody>
      </p:sp>
      <p:sp>
        <p:nvSpPr>
          <p:cNvPr id="6" name="Department"/>
          <p:cNvSpPr txBox="1"/>
          <p:nvPr/>
        </p:nvSpPr>
        <p:spPr>
          <a:xfrm>
            <a:off x="54864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Department: CSE A</a:t>
            </a:r>
            <a:endParaRPr lang="en-US" sz="1400" dirty="0"/>
          </a:p>
        </p:txBody>
      </p:sp>
      <p:sp>
        <p:nvSpPr>
          <p:cNvPr id="7" name="Shield circle"/>
          <p:cNvSpPr/>
          <p:nvPr/>
        </p:nvSpPr>
        <p:spPr>
          <a:xfrm>
            <a:off x="5989320" y="960120"/>
            <a:ext cx="2651760" cy="265176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accent1"/>
            </a:solidFill>
            <a:prstDash val="solid"/>
          </a:ln>
        </p:spPr>
      </p:sp>
      <p:pic>
        <p:nvPicPr>
          <p:cNvPr id="8" name="Shield icon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645920"/>
            <a:ext cx="1280160" cy="1280160"/>
          </a:xfrm>
          <a:prstGeom prst="rect">
            <a:avLst/>
          </a:prstGeom>
        </p:spPr>
      </p:pic>
      <p:sp>
        <p:nvSpPr>
          <p:cNvPr id="9" name="Tagline"/>
          <p:cNvSpPr txBox="1"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“Think Before You Click. Protect Before You Connect.”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CYBERSECURITY PROBLEM</a:t>
            </a:r>
            <a:endParaRPr lang="en-US" sz="3000" dirty="0"/>
          </a:p>
        </p:txBody>
      </p:sp>
      <p:sp>
        <p:nvSpPr>
          <p:cNvPr id="3" name="Intro"/>
          <p:cNvSpPr txBox="1"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More connected devices and online services mean a higher risk of cyberattacks.</a:t>
            </a:r>
            <a:endParaRPr lang="en-US" sz="1400" dirty="0"/>
          </a:p>
        </p:txBody>
      </p:sp>
      <p:sp>
        <p:nvSpPr>
          <p:cNvPr id="4" name="Case card"/>
          <p:cNvSpPr/>
          <p:nvPr/>
        </p:nvSpPr>
        <p:spPr>
          <a:xfrm>
            <a:off x="548640" y="15544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Hospital icon circle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6" name="Hospital icon" descr="Hospit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833372"/>
            <a:ext cx="192024" cy="192024"/>
          </a:xfrm>
          <a:prstGeom prst="rect">
            <a:avLst/>
          </a:prstGeom>
        </p:spPr>
      </p:pic>
      <p:sp>
        <p:nvSpPr>
          <p:cNvPr id="7" name="Case title"/>
          <p:cNvSpPr txBox="1"/>
          <p:nvPr/>
        </p:nvSpPr>
        <p:spPr>
          <a:xfrm>
            <a:off x="1280160" y="17373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Hospital Cyberattack</a:t>
            </a:r>
            <a:endParaRPr lang="en-US" sz="1600" dirty="0"/>
          </a:p>
        </p:txBody>
      </p:sp>
      <p:sp>
        <p:nvSpPr>
          <p:cNvPr id="8" name="Step 1 badge"/>
          <p:cNvSpPr/>
          <p:nvPr/>
        </p:nvSpPr>
        <p:spPr>
          <a:xfrm>
            <a:off x="777240" y="2377440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tep 1 number"/>
          <p:cNvSpPr txBox="1"/>
          <p:nvPr/>
        </p:nvSpPr>
        <p:spPr>
          <a:xfrm>
            <a:off x="77724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Step 1 text"/>
          <p:cNvSpPr txBox="1"/>
          <p:nvPr/>
        </p:nvSpPr>
        <p:spPr>
          <a:xfrm>
            <a:off x="1280160" y="237744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Fake password-reset email arrives</a:t>
            </a:r>
            <a:endParaRPr lang="en-US" sz="1400" dirty="0"/>
          </a:p>
        </p:txBody>
      </p:sp>
      <p:sp>
        <p:nvSpPr>
          <p:cNvPr id="11" name="Step 2 badge"/>
          <p:cNvSpPr/>
          <p:nvPr/>
        </p:nvSpPr>
        <p:spPr>
          <a:xfrm>
            <a:off x="777240" y="2852928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Step 2 number"/>
          <p:cNvSpPr txBox="1"/>
          <p:nvPr/>
        </p:nvSpPr>
        <p:spPr>
          <a:xfrm>
            <a:off x="777240" y="2852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 2 text"/>
          <p:cNvSpPr txBox="1"/>
          <p:nvPr/>
        </p:nvSpPr>
        <p:spPr>
          <a:xfrm>
            <a:off x="1280160" y="28529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Credentials typed into a fake site</a:t>
            </a:r>
            <a:endParaRPr lang="en-US" sz="1400" dirty="0"/>
          </a:p>
        </p:txBody>
      </p:sp>
      <p:sp>
        <p:nvSpPr>
          <p:cNvPr id="14" name="Step 3 badge"/>
          <p:cNvSpPr/>
          <p:nvPr/>
        </p:nvSpPr>
        <p:spPr>
          <a:xfrm>
            <a:off x="777240" y="3328416"/>
            <a:ext cx="329184" cy="32918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tep 3 number"/>
          <p:cNvSpPr txBox="1"/>
          <p:nvPr/>
        </p:nvSpPr>
        <p:spPr>
          <a:xfrm>
            <a:off x="777240" y="3328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tep 3 text"/>
          <p:cNvSpPr txBox="1"/>
          <p:nvPr/>
        </p:nvSpPr>
        <p:spPr>
          <a:xfrm>
            <a:off x="1280160" y="33284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Ransomware locks hospital systems</a:t>
            </a:r>
            <a:endParaRPr lang="en-US" sz="1400" dirty="0"/>
          </a:p>
        </p:txBody>
      </p:sp>
      <p:sp>
        <p:nvSpPr>
          <p:cNvPr id="17" name="Impact card"/>
          <p:cNvSpPr/>
          <p:nvPr/>
        </p:nvSpPr>
        <p:spPr>
          <a:xfrm>
            <a:off x="4663440" y="155448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Impact title"/>
          <p:cNvSpPr txBox="1"/>
          <p:nvPr/>
        </p:nvSpPr>
        <p:spPr>
          <a:xfrm>
            <a:off x="489204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</a:rPr>
              <a:t>Impact</a:t>
            </a:r>
            <a:endParaRPr lang="en-US" sz="1600" dirty="0"/>
          </a:p>
        </p:txBody>
      </p:sp>
      <p:sp>
        <p:nvSpPr>
          <p:cNvPr id="19" name="Impact icon 1 circle"/>
          <p:cNvSpPr/>
          <p:nvPr/>
        </p:nvSpPr>
        <p:spPr>
          <a:xfrm>
            <a:off x="4892040" y="2286000"/>
            <a:ext cx="310896" cy="310896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0" name="Impact icon 1" descr="Impact icon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2363724"/>
            <a:ext cx="155448" cy="155448"/>
          </a:xfrm>
          <a:prstGeom prst="rect">
            <a:avLst/>
          </a:prstGeom>
        </p:spPr>
      </p:pic>
      <p:sp>
        <p:nvSpPr>
          <p:cNvPr id="21" name="Impact 1"/>
          <p:cNvSpPr txBox="1"/>
          <p:nvPr/>
        </p:nvSpPr>
        <p:spPr>
          <a:xfrm>
            <a:off x="5349240" y="2286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Treatment and appointments delayed</a:t>
            </a:r>
            <a:endParaRPr lang="en-US" sz="1400" dirty="0"/>
          </a:p>
        </p:txBody>
      </p:sp>
      <p:sp>
        <p:nvSpPr>
          <p:cNvPr id="22" name="Impact icon 2 circle"/>
          <p:cNvSpPr/>
          <p:nvPr/>
        </p:nvSpPr>
        <p:spPr>
          <a:xfrm>
            <a:off x="4892040" y="2651760"/>
            <a:ext cx="310896" cy="310896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3" name="Impact icon 2" descr="Impact icon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764" y="2729484"/>
            <a:ext cx="155448" cy="155448"/>
          </a:xfrm>
          <a:prstGeom prst="rect">
            <a:avLst/>
          </a:prstGeom>
        </p:spPr>
      </p:pic>
      <p:sp>
        <p:nvSpPr>
          <p:cNvPr id="24" name="Impact 2"/>
          <p:cNvSpPr txBox="1"/>
          <p:nvPr/>
        </p:nvSpPr>
        <p:spPr>
          <a:xfrm>
            <a:off x="5349240" y="265176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Medical records inaccessible</a:t>
            </a:r>
            <a:endParaRPr lang="en-US" sz="1400" dirty="0"/>
          </a:p>
        </p:txBody>
      </p:sp>
      <p:sp>
        <p:nvSpPr>
          <p:cNvPr id="25" name="Impact icon 3 circle"/>
          <p:cNvSpPr/>
          <p:nvPr/>
        </p:nvSpPr>
        <p:spPr>
          <a:xfrm>
            <a:off x="4892040" y="3017520"/>
            <a:ext cx="310896" cy="310896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6" name="Impact icon 3" descr="Impact ic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3095244"/>
            <a:ext cx="155448" cy="155448"/>
          </a:xfrm>
          <a:prstGeom prst="rect">
            <a:avLst/>
          </a:prstGeom>
        </p:spPr>
      </p:pic>
      <p:sp>
        <p:nvSpPr>
          <p:cNvPr id="27" name="Impact 3"/>
          <p:cNvSpPr txBox="1"/>
          <p:nvPr/>
        </p:nvSpPr>
        <p:spPr>
          <a:xfrm>
            <a:off x="5349240" y="30175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Patient data put at risk</a:t>
            </a:r>
            <a:endParaRPr lang="en-US" sz="1400" dirty="0"/>
          </a:p>
        </p:txBody>
      </p:sp>
      <p:sp>
        <p:nvSpPr>
          <p:cNvPr id="28" name="Impact icon 4 circle"/>
          <p:cNvSpPr/>
          <p:nvPr/>
        </p:nvSpPr>
        <p:spPr>
          <a:xfrm>
            <a:off x="4892040" y="3383280"/>
            <a:ext cx="310896" cy="310896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9" name="Impact icon 4" descr="Impact icon 4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9764" y="3461004"/>
            <a:ext cx="155448" cy="155448"/>
          </a:xfrm>
          <a:prstGeom prst="rect">
            <a:avLst/>
          </a:prstGeom>
        </p:spPr>
      </p:pic>
      <p:sp>
        <p:nvSpPr>
          <p:cNvPr id="30" name="Impact 4"/>
          <p:cNvSpPr txBox="1"/>
          <p:nvPr/>
        </p:nvSpPr>
        <p:spPr>
          <a:xfrm>
            <a:off x="5349240" y="33832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Financial loss and lost trust</a:t>
            </a:r>
            <a:endParaRPr lang="en-US" sz="1400" dirty="0"/>
          </a:p>
        </p:txBody>
      </p:sp>
      <p:sp>
        <p:nvSpPr>
          <p:cNvPr id="31" name="Core problem card"/>
          <p:cNvSpPr/>
          <p:nvPr/>
        </p:nvSpPr>
        <p:spPr>
          <a:xfrm>
            <a:off x="548640" y="4069080"/>
            <a:ext cx="8046720" cy="731520"/>
          </a:xfrm>
          <a:prstGeom prst="roundRect">
            <a:avLst>
              <a:gd name="adj" fmla="val 15000"/>
            </a:avLst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sp>
        <p:nvSpPr>
          <p:cNvPr id="32" name="Core problem text"/>
          <p:cNvSpPr txBox="1"/>
          <p:nvPr/>
        </p:nvSpPr>
        <p:spPr>
          <a:xfrm>
            <a:off x="777240" y="40690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 single human mistake can become the entry point for a major cyberattack.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2DD4BF"/>
                </a:solidFill>
              </a:rPr>
              <a:t>Need: technical security + user awareness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CYBERSHIELD</a:t>
            </a:r>
            <a:endParaRPr lang="en-US" sz="3000" dirty="0"/>
          </a:p>
        </p:txBody>
      </p:sp>
      <p:sp>
        <p:nvSpPr>
          <p:cNvPr id="3" name="Solution intro"/>
          <p:cNvSpPr txBox="1"/>
          <p:nvPr/>
        </p:nvSpPr>
        <p:spPr>
          <a:xfrm>
            <a:off x="548640" y="1024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 smart assistant that helps people spot, understand and respond to cyber threats.</a:t>
            </a:r>
            <a:endParaRPr lang="en-US" sz="1400" dirty="0"/>
          </a:p>
        </p:txBody>
      </p:sp>
      <p:sp>
        <p:nvSpPr>
          <p:cNvPr id="4" name="User box"/>
          <p:cNvSpPr/>
          <p:nvPr/>
        </p:nvSpPr>
        <p:spPr>
          <a:xfrm>
            <a:off x="640080" y="1600200"/>
            <a:ext cx="1371600" cy="2194560"/>
          </a:xfrm>
          <a:prstGeom prst="roundRect">
            <a:avLst>
              <a:gd name="adj" fmla="val 8000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5" name="User icon circle"/>
          <p:cNvSpPr/>
          <p:nvPr/>
        </p:nvSpPr>
        <p:spPr>
          <a:xfrm>
            <a:off x="960120" y="1965960"/>
            <a:ext cx="731520" cy="7315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6" name="User icon" descr="Us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48840"/>
            <a:ext cx="365760" cy="365760"/>
          </a:xfrm>
          <a:prstGeom prst="rect">
            <a:avLst/>
          </a:prstGeom>
        </p:spPr>
      </p:pic>
      <p:sp>
        <p:nvSpPr>
          <p:cNvPr id="7" name="User text"/>
          <p:cNvSpPr txBox="1"/>
          <p:nvPr/>
        </p:nvSpPr>
        <p:spPr>
          <a:xfrm>
            <a:off x="685800" y="2834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User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Message or URL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011680" y="2697480"/>
            <a:ext cx="2286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9" name="CyberShield box"/>
          <p:cNvSpPr/>
          <p:nvPr/>
        </p:nvSpPr>
        <p:spPr>
          <a:xfrm>
            <a:off x="2240280" y="1600200"/>
            <a:ext cx="2194560" cy="219456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 w="19050">
            <a:solidFill>
              <a:srgbClr val="2DD4BF"/>
            </a:solidFill>
            <a:prstDash val="solid"/>
          </a:ln>
        </p:spPr>
      </p:sp>
      <p:sp>
        <p:nvSpPr>
          <p:cNvPr id="10" name="CyberShield title"/>
          <p:cNvSpPr txBox="1"/>
          <p:nvPr/>
        </p:nvSpPr>
        <p:spPr>
          <a:xfrm>
            <a:off x="2240280" y="17373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CYBERSHIELD</a:t>
            </a:r>
            <a:endParaRPr lang="en-US" sz="1600" dirty="0"/>
          </a:p>
        </p:txBody>
      </p:sp>
      <p:sp>
        <p:nvSpPr>
          <p:cNvPr id="11" name="Module chip 1"/>
          <p:cNvSpPr/>
          <p:nvPr/>
        </p:nvSpPr>
        <p:spPr>
          <a:xfrm>
            <a:off x="2423160" y="2258568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sp>
        <p:nvSpPr>
          <p:cNvPr id="12" name="Module text 1"/>
          <p:cNvSpPr txBox="1"/>
          <p:nvPr/>
        </p:nvSpPr>
        <p:spPr>
          <a:xfrm>
            <a:off x="2423160" y="2258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Phishing Check</a:t>
            </a:r>
            <a:endParaRPr lang="en-US" sz="1400" dirty="0"/>
          </a:p>
        </p:txBody>
      </p:sp>
      <p:sp>
        <p:nvSpPr>
          <p:cNvPr id="13" name="Module chip 2"/>
          <p:cNvSpPr/>
          <p:nvPr/>
        </p:nvSpPr>
        <p:spPr>
          <a:xfrm>
            <a:off x="2423160" y="2734056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sp>
        <p:nvSpPr>
          <p:cNvPr id="14" name="Module text 2"/>
          <p:cNvSpPr txBox="1"/>
          <p:nvPr/>
        </p:nvSpPr>
        <p:spPr>
          <a:xfrm>
            <a:off x="2423160" y="2734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Password Check</a:t>
            </a:r>
            <a:endParaRPr lang="en-US" sz="1400" dirty="0"/>
          </a:p>
        </p:txBody>
      </p:sp>
      <p:sp>
        <p:nvSpPr>
          <p:cNvPr id="15" name="Module chip 3"/>
          <p:cNvSpPr/>
          <p:nvPr/>
        </p:nvSpPr>
        <p:spPr>
          <a:xfrm>
            <a:off x="2423160" y="3209544"/>
            <a:ext cx="1828800" cy="365760"/>
          </a:xfrm>
          <a:prstGeom prst="roundRect">
            <a:avLst>
              <a:gd name="adj" fmla="val 30000"/>
            </a:avLst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sp>
        <p:nvSpPr>
          <p:cNvPr id="16" name="Module text 3"/>
          <p:cNvSpPr txBox="1"/>
          <p:nvPr/>
        </p:nvSpPr>
        <p:spPr>
          <a:xfrm>
            <a:off x="2423160" y="32095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Report Threat</a:t>
            </a:r>
            <a:endParaRPr lang="en-US" sz="1400" dirty="0"/>
          </a:p>
        </p:txBody>
      </p:sp>
      <p:sp>
        <p:nvSpPr>
          <p:cNvPr id="17" name="Arrow 2"/>
          <p:cNvSpPr/>
          <p:nvPr/>
        </p:nvSpPr>
        <p:spPr>
          <a:xfrm>
            <a:off x="4434840" y="2697480"/>
            <a:ext cx="2286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8" name="Risk box"/>
          <p:cNvSpPr/>
          <p:nvPr/>
        </p:nvSpPr>
        <p:spPr>
          <a:xfrm>
            <a:off x="4663440" y="1600200"/>
            <a:ext cx="2011680" cy="2194560"/>
          </a:xfrm>
          <a:prstGeom prst="roundRect">
            <a:avLst>
              <a:gd name="adj" fmla="val 5455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sp>
        <p:nvSpPr>
          <p:cNvPr id="19" name="Risk title"/>
          <p:cNvSpPr txBox="1"/>
          <p:nvPr/>
        </p:nvSpPr>
        <p:spPr>
          <a:xfrm>
            <a:off x="466344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D4BF"/>
                </a:solidFill>
              </a:rPr>
              <a:t>Risk Analysis</a:t>
            </a:r>
            <a:endParaRPr lang="en-US" sz="1600" dirty="0"/>
          </a:p>
        </p:txBody>
      </p:sp>
      <p:sp>
        <p:nvSpPr>
          <p:cNvPr id="20" name="Risk pill 1"/>
          <p:cNvSpPr/>
          <p:nvPr/>
        </p:nvSpPr>
        <p:spPr>
          <a:xfrm>
            <a:off x="4846320" y="225856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Risk text 1"/>
          <p:cNvSpPr txBox="1"/>
          <p:nvPr/>
        </p:nvSpPr>
        <p:spPr>
          <a:xfrm>
            <a:off x="4846320" y="2258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39"/>
                </a:solidFill>
              </a:rPr>
              <a:t>SAFE</a:t>
            </a:r>
            <a:endParaRPr lang="en-US" sz="1400" dirty="0"/>
          </a:p>
        </p:txBody>
      </p:sp>
      <p:sp>
        <p:nvSpPr>
          <p:cNvPr id="22" name="Risk pill 2"/>
          <p:cNvSpPr/>
          <p:nvPr/>
        </p:nvSpPr>
        <p:spPr>
          <a:xfrm>
            <a:off x="4846320" y="2734056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Risk text 2"/>
          <p:cNvSpPr txBox="1"/>
          <p:nvPr/>
        </p:nvSpPr>
        <p:spPr>
          <a:xfrm>
            <a:off x="4846320" y="2734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39"/>
                </a:solidFill>
              </a:rPr>
              <a:t>SUSPICIOUS</a:t>
            </a:r>
            <a:endParaRPr lang="en-US" sz="1400" dirty="0"/>
          </a:p>
        </p:txBody>
      </p:sp>
      <p:sp>
        <p:nvSpPr>
          <p:cNvPr id="24" name="Risk pill 3"/>
          <p:cNvSpPr/>
          <p:nvPr/>
        </p:nvSpPr>
        <p:spPr>
          <a:xfrm>
            <a:off x="4846320" y="3209544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Risk text 3"/>
          <p:cNvSpPr txBox="1"/>
          <p:nvPr/>
        </p:nvSpPr>
        <p:spPr>
          <a:xfrm>
            <a:off x="4846320" y="3209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39"/>
                </a:solidFill>
              </a:rPr>
              <a:t>HIGH RISK</a:t>
            </a:r>
            <a:endParaRPr lang="en-US" sz="1400" dirty="0"/>
          </a:p>
        </p:txBody>
      </p:sp>
      <p:sp>
        <p:nvSpPr>
          <p:cNvPr id="26" name="Arrow 3"/>
          <p:cNvSpPr/>
          <p:nvPr/>
        </p:nvSpPr>
        <p:spPr>
          <a:xfrm>
            <a:off x="6675120" y="2697480"/>
            <a:ext cx="228600" cy="0"/>
          </a:xfrm>
          <a:prstGeom prst="line">
            <a:avLst/>
          </a:prstGeom>
          <a:noFill/>
          <a:ln w="317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27" name="Outcome box"/>
          <p:cNvSpPr/>
          <p:nvPr/>
        </p:nvSpPr>
        <p:spPr>
          <a:xfrm>
            <a:off x="6903720" y="1600200"/>
            <a:ext cx="1554480" cy="2194560"/>
          </a:xfrm>
          <a:prstGeom prst="roundRect">
            <a:avLst>
              <a:gd name="adj" fmla="val 7059"/>
            </a:avLst>
          </a:prstGeom>
          <a:solidFill>
            <a:srgbClr val="16304F"/>
          </a:solidFill>
          <a:ln w="12700">
            <a:solidFill>
              <a:srgbClr val="16304F"/>
            </a:solidFill>
            <a:prstDash val="solid"/>
          </a:ln>
        </p:spPr>
      </p:sp>
      <p:pic>
        <p:nvPicPr>
          <p:cNvPr id="28" name="Tips icon" descr="Lightbulb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874520"/>
            <a:ext cx="457200" cy="457200"/>
          </a:xfrm>
          <a:prstGeom prst="rect">
            <a:avLst/>
          </a:prstGeom>
        </p:spPr>
      </p:pic>
      <p:sp>
        <p:nvSpPr>
          <p:cNvPr id="29" name="Tips text"/>
          <p:cNvSpPr txBox="1"/>
          <p:nvPr/>
        </p:nvSpPr>
        <p:spPr>
          <a:xfrm>
            <a:off x="6903720" y="2377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Action Tips</a:t>
            </a:r>
            <a:endParaRPr lang="en-US" sz="1400" dirty="0"/>
          </a:p>
        </p:txBody>
      </p:sp>
      <p:pic>
        <p:nvPicPr>
          <p:cNvPr id="30" name="Protected icon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852928"/>
            <a:ext cx="457200" cy="457200"/>
          </a:xfrm>
          <a:prstGeom prst="rect">
            <a:avLst/>
          </a:prstGeom>
        </p:spPr>
      </p:pic>
      <p:sp>
        <p:nvSpPr>
          <p:cNvPr id="31" name="Protected text"/>
          <p:cNvSpPr txBox="1"/>
          <p:nvPr/>
        </p:nvSpPr>
        <p:spPr>
          <a:xfrm>
            <a:off x="6903720" y="3355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D4BF"/>
                </a:solidFill>
              </a:rPr>
              <a:t>User Protected</a:t>
            </a:r>
            <a:endParaRPr lang="en-US" sz="1400" dirty="0"/>
          </a:p>
        </p:txBody>
      </p:sp>
      <p:sp>
        <p:nvSpPr>
          <p:cNvPr id="32" name="Goal"/>
          <p:cNvSpPr txBox="1"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Goal:  </a:t>
            </a:r>
            <a:pPr algn="ctr" indent="0" marL="0">
              <a:buNone/>
            </a:pPr>
            <a:r>
              <a:rPr lang="en-US" sz="2400" b="1" dirty="0">
                <a:solidFill>
                  <a:srgbClr val="2DD4BF"/>
                </a:solidFill>
              </a:rPr>
              <a:t>Detect  →  Educate  →  Protect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32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CYBERSHIELD PROTOTYPE</a:t>
            </a:r>
            <a:endParaRPr lang="en-US" sz="30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1887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Module icon 1 circle"/>
          <p:cNvSpPr/>
          <p:nvPr/>
        </p:nvSpPr>
        <p:spPr>
          <a:xfrm>
            <a:off x="713232" y="141732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5" name="Module icon 1" descr="Modul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962" y="1543050"/>
            <a:ext cx="251460" cy="251460"/>
          </a:xfrm>
          <a:prstGeom prst="rect">
            <a:avLst/>
          </a:prstGeom>
        </p:spPr>
      </p:pic>
      <p:sp>
        <p:nvSpPr>
          <p:cNvPr id="6" name="Module text 1"/>
          <p:cNvSpPr txBox="1"/>
          <p:nvPr/>
        </p:nvSpPr>
        <p:spPr>
          <a:xfrm>
            <a:off x="1371600" y="11887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Security Dashboard</a:t>
            </a:r>
            <a:endParaRPr lang="en-US" sz="1600" dirty="0"/>
          </a:p>
        </p:txBody>
      </p:sp>
      <p:sp>
        <p:nvSpPr>
          <p:cNvPr id="7" name="Module card 2"/>
          <p:cNvSpPr/>
          <p:nvPr/>
        </p:nvSpPr>
        <p:spPr>
          <a:xfrm>
            <a:off x="3154680" y="118872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Module icon 2 circle"/>
          <p:cNvSpPr/>
          <p:nvPr/>
        </p:nvSpPr>
        <p:spPr>
          <a:xfrm>
            <a:off x="3319272" y="141732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9" name="Module icon 2" descr="Modul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5002" y="1543050"/>
            <a:ext cx="251460" cy="251460"/>
          </a:xfrm>
          <a:prstGeom prst="rect">
            <a:avLst/>
          </a:prstGeom>
        </p:spPr>
      </p:pic>
      <p:sp>
        <p:nvSpPr>
          <p:cNvPr id="10" name="Module text 2"/>
          <p:cNvSpPr txBox="1"/>
          <p:nvPr/>
        </p:nvSpPr>
        <p:spPr>
          <a:xfrm>
            <a:off x="3977640" y="118872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Phishing Checker</a:t>
            </a:r>
            <a:endParaRPr lang="en-US" sz="1600" dirty="0"/>
          </a:p>
        </p:txBody>
      </p:sp>
      <p:sp>
        <p:nvSpPr>
          <p:cNvPr id="11" name="Module card 3"/>
          <p:cNvSpPr/>
          <p:nvPr/>
        </p:nvSpPr>
        <p:spPr>
          <a:xfrm>
            <a:off x="548640" y="228600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Module icon 3 circle"/>
          <p:cNvSpPr/>
          <p:nvPr/>
        </p:nvSpPr>
        <p:spPr>
          <a:xfrm>
            <a:off x="713232" y="251460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13" name="Module icon 3" descr="Modul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" y="2640330"/>
            <a:ext cx="251460" cy="251460"/>
          </a:xfrm>
          <a:prstGeom prst="rect">
            <a:avLst/>
          </a:prstGeom>
        </p:spPr>
      </p:pic>
      <p:sp>
        <p:nvSpPr>
          <p:cNvPr id="14" name="Module text 3"/>
          <p:cNvSpPr txBox="1"/>
          <p:nvPr/>
        </p:nvSpPr>
        <p:spPr>
          <a:xfrm>
            <a:off x="1371600" y="22860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Password Checker</a:t>
            </a:r>
            <a:endParaRPr lang="en-US" sz="1600" dirty="0"/>
          </a:p>
        </p:txBody>
      </p:sp>
      <p:sp>
        <p:nvSpPr>
          <p:cNvPr id="15" name="Module card 4"/>
          <p:cNvSpPr/>
          <p:nvPr/>
        </p:nvSpPr>
        <p:spPr>
          <a:xfrm>
            <a:off x="3154680" y="228600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Module icon 4 circle"/>
          <p:cNvSpPr/>
          <p:nvPr/>
        </p:nvSpPr>
        <p:spPr>
          <a:xfrm>
            <a:off x="3319272" y="251460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17" name="Module icon 4" descr="Module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5002" y="2640330"/>
            <a:ext cx="251460" cy="251460"/>
          </a:xfrm>
          <a:prstGeom prst="rect">
            <a:avLst/>
          </a:prstGeom>
        </p:spPr>
      </p:pic>
      <p:sp>
        <p:nvSpPr>
          <p:cNvPr id="18" name="Module text 4"/>
          <p:cNvSpPr txBox="1"/>
          <p:nvPr/>
        </p:nvSpPr>
        <p:spPr>
          <a:xfrm>
            <a:off x="3977640" y="228600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Threat Alerts</a:t>
            </a:r>
            <a:endParaRPr lang="en-US" sz="1600" dirty="0"/>
          </a:p>
        </p:txBody>
      </p:sp>
      <p:sp>
        <p:nvSpPr>
          <p:cNvPr id="19" name="Module card 5"/>
          <p:cNvSpPr/>
          <p:nvPr/>
        </p:nvSpPr>
        <p:spPr>
          <a:xfrm>
            <a:off x="548640" y="338328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Module icon 5 circle"/>
          <p:cNvSpPr/>
          <p:nvPr/>
        </p:nvSpPr>
        <p:spPr>
          <a:xfrm>
            <a:off x="713232" y="361188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1" name="Module icon 5" descr="Module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962" y="3737610"/>
            <a:ext cx="251460" cy="251460"/>
          </a:xfrm>
          <a:prstGeom prst="rect">
            <a:avLst/>
          </a:prstGeom>
        </p:spPr>
      </p:pic>
      <p:sp>
        <p:nvSpPr>
          <p:cNvPr id="22" name="Module text 5"/>
          <p:cNvSpPr txBox="1"/>
          <p:nvPr/>
        </p:nvSpPr>
        <p:spPr>
          <a:xfrm>
            <a:off x="1371600" y="338328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Learning Hub</a:t>
            </a:r>
            <a:endParaRPr lang="en-US" sz="1600" dirty="0"/>
          </a:p>
        </p:txBody>
      </p:sp>
      <p:sp>
        <p:nvSpPr>
          <p:cNvPr id="23" name="Module card 6"/>
          <p:cNvSpPr/>
          <p:nvPr/>
        </p:nvSpPr>
        <p:spPr>
          <a:xfrm>
            <a:off x="3154680" y="3383280"/>
            <a:ext cx="24688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Module icon 6 circle"/>
          <p:cNvSpPr/>
          <p:nvPr/>
        </p:nvSpPr>
        <p:spPr>
          <a:xfrm>
            <a:off x="3319272" y="3611880"/>
            <a:ext cx="502920" cy="502920"/>
          </a:xfrm>
          <a:prstGeom prst="ellipse">
            <a:avLst/>
          </a:prstGeom>
          <a:solidFill>
            <a:srgbClr val="0F2339"/>
          </a:solidFill>
          <a:ln w="12700">
            <a:solidFill>
              <a:srgbClr val="0F2339"/>
            </a:solidFill>
            <a:prstDash val="solid"/>
          </a:ln>
        </p:spPr>
      </p:sp>
      <p:pic>
        <p:nvPicPr>
          <p:cNvPr id="25" name="Module icon 6" descr="Module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5002" y="3737610"/>
            <a:ext cx="251460" cy="251460"/>
          </a:xfrm>
          <a:prstGeom prst="rect">
            <a:avLst/>
          </a:prstGeom>
        </p:spPr>
      </p:pic>
      <p:sp>
        <p:nvSpPr>
          <p:cNvPr id="26" name="Module text 6"/>
          <p:cNvSpPr txBox="1"/>
          <p:nvPr/>
        </p:nvSpPr>
        <p:spPr>
          <a:xfrm>
            <a:off x="3977640" y="3383280"/>
            <a:ext cx="15727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8"/>
                </a:solidFill>
              </a:rPr>
              <a:t>Report Threat</a:t>
            </a:r>
            <a:endParaRPr lang="en-US" sz="1600" dirty="0"/>
          </a:p>
        </p:txBody>
      </p:sp>
      <p:sp>
        <p:nvSpPr>
          <p:cNvPr id="27" name="Demo panel"/>
          <p:cNvSpPr/>
          <p:nvPr/>
        </p:nvSpPr>
        <p:spPr>
          <a:xfrm>
            <a:off x="5760720" y="1188720"/>
            <a:ext cx="2834640" cy="315468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Demo label"/>
          <p:cNvSpPr txBox="1"/>
          <p:nvPr/>
        </p:nvSpPr>
        <p:spPr>
          <a:xfrm>
            <a:off x="5943600" y="13258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EXAMPLE</a:t>
            </a:r>
            <a:endParaRPr lang="en-US" sz="1200" dirty="0"/>
          </a:p>
        </p:txBody>
      </p:sp>
      <p:sp>
        <p:nvSpPr>
          <p:cNvPr id="29" name="Demo input box"/>
          <p:cNvSpPr/>
          <p:nvPr/>
        </p:nvSpPr>
        <p:spPr>
          <a:xfrm>
            <a:off x="5943600" y="1645920"/>
            <a:ext cx="2468880" cy="777240"/>
          </a:xfrm>
          <a:prstGeom prst="roundRect">
            <a:avLst>
              <a:gd name="adj" fmla="val 1411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Demo input"/>
          <p:cNvSpPr txBox="1"/>
          <p:nvPr/>
        </p:nvSpPr>
        <p:spPr>
          <a:xfrm>
            <a:off x="6035040" y="16459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“URGENT! Your bank account will be blocked today. Click this link immediately.”</a:t>
            </a:r>
            <a:endParaRPr lang="en-US" sz="1300" dirty="0"/>
          </a:p>
        </p:txBody>
      </p:sp>
      <p:sp>
        <p:nvSpPr>
          <p:cNvPr id="31" name="Risk result pill"/>
          <p:cNvSpPr/>
          <p:nvPr/>
        </p:nvSpPr>
        <p:spPr>
          <a:xfrm>
            <a:off x="5943600" y="2560320"/>
            <a:ext cx="2468880" cy="384048"/>
          </a:xfrm>
          <a:prstGeom prst="roundRect">
            <a:avLst>
              <a:gd name="adj" fmla="val 28571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32" name="Risk result text"/>
          <p:cNvSpPr txBox="1"/>
          <p:nvPr/>
        </p:nvSpPr>
        <p:spPr>
          <a:xfrm>
            <a:off x="5943600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91C1C"/>
                </a:solidFill>
              </a:rPr>
              <a:t>HIGH RISK DETECTED</a:t>
            </a:r>
            <a:endParaRPr lang="en-US" sz="1400" dirty="0"/>
          </a:p>
        </p:txBody>
      </p:sp>
      <p:sp>
        <p:nvSpPr>
          <p:cNvPr id="33" name="Warning signs"/>
          <p:cNvSpPr txBox="1"/>
          <p:nvPr/>
        </p:nvSpPr>
        <p:spPr>
          <a:xfrm>
            <a:off x="5943600" y="309067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Urgent language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Suspicious link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Request for credentials</a:t>
            </a:r>
            <a:endParaRPr lang="en-US" sz="1300" dirty="0"/>
          </a:p>
        </p:txBody>
      </p:sp>
      <p:sp>
        <p:nvSpPr>
          <p:cNvPr id="34" name="Recommendation"/>
          <p:cNvSpPr txBox="1"/>
          <p:nvPr/>
        </p:nvSpPr>
        <p:spPr>
          <a:xfrm>
            <a:off x="594360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Don't click. Report the threat.</a:t>
            </a:r>
            <a:endParaRPr lang="en-US" sz="1400" dirty="0"/>
          </a:p>
        </p:txBody>
      </p:sp>
      <p:sp>
        <p:nvSpPr>
          <p:cNvPr id="35" name="Final message"/>
          <p:cNvSpPr txBox="1"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F2339"/>
                </a:solidFill>
              </a:rPr>
              <a:t>“Think Before You Click. Protect Before You Connect.”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berShield">
  <a:themeElements>
    <a:clrScheme name="CyberShield">
      <a:dk1>
        <a:srgbClr val="13233B"/>
      </a:dk1>
      <a:lt1>
        <a:srgbClr val="FFFFFF"/>
      </a:lt1>
      <a:dk2>
        <a:srgbClr val="0A1A33"/>
      </a:dk2>
      <a:lt2>
        <a:srgbClr val="E8F1F7"/>
      </a:lt2>
      <a:accent1>
        <a:srgbClr val="0096C7"/>
      </a:accent1>
      <a:accent2>
        <a:srgbClr val="D62839"/>
      </a:accent2>
      <a:accent3>
        <a:srgbClr val="F2A541"/>
      </a:accent3>
      <a:accent4>
        <a:srgbClr val="1F7A6D"/>
      </a:accent4>
      <a:accent5>
        <a:srgbClr val="5B6B7F"/>
      </a:accent5>
      <a:accent6>
        <a:srgbClr val="1B3A5F"/>
      </a:accent6>
      <a:hlink>
        <a:srgbClr val="0096C7"/>
      </a:hlink>
      <a:folHlink>
        <a:srgbClr val="5B6B7F"/>
      </a:folHlink>
    </a:clrScheme>
    <a:fontScheme name="CyberShiel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Cybersecurity: Protect Today, Secure Tomorrow</dc:title>
  <dc:subject>PptxGenJS Presentation</dc:subject>
  <dc:creator>Liz Rose Liju</dc:creator>
  <cp:lastModifiedBy>Liz Rose Liju</cp:lastModifiedBy>
  <cp:revision>1</cp:revision>
  <dcterms:created xsi:type="dcterms:W3CDTF">2026-10-08T04:55:21Z</dcterms:created>
  <dcterms:modified xsi:type="dcterms:W3CDTF">2026-10-08T04:55:21Z</dcterms:modified>
</cp:coreProperties>
</file>